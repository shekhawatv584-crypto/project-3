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97EE0-1633-40C2-AA3A-6EE2F43FEEF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92092-43BE-4244-9C0D-9F210D570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92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97EE0-1633-40C2-AA3A-6EE2F43FEEF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92092-43BE-4244-9C0D-9F210D570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97EE0-1633-40C2-AA3A-6EE2F43FEEF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92092-43BE-4244-9C0D-9F210D570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64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97EE0-1633-40C2-AA3A-6EE2F43FEEF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92092-43BE-4244-9C0D-9F210D570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656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97EE0-1633-40C2-AA3A-6EE2F43FEEF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92092-43BE-4244-9C0D-9F210D570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87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97EE0-1633-40C2-AA3A-6EE2F43FEEF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92092-43BE-4244-9C0D-9F210D570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59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97EE0-1633-40C2-AA3A-6EE2F43FEEF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92092-43BE-4244-9C0D-9F210D570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31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97EE0-1633-40C2-AA3A-6EE2F43FEEF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92092-43BE-4244-9C0D-9F210D570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472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97EE0-1633-40C2-AA3A-6EE2F43FEEF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92092-43BE-4244-9C0D-9F210D570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400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97EE0-1633-40C2-AA3A-6EE2F43FEEF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92092-43BE-4244-9C0D-9F210D570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330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97EE0-1633-40C2-AA3A-6EE2F43FEEF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92092-43BE-4244-9C0D-9F210D570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66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6C97EE0-1633-40C2-AA3A-6EE2F43FEEF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E592092-43BE-4244-9C0D-9F210D570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400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3C2751-37CA-4016-A4F2-B0CF388DBAFD}"/>
              </a:ext>
            </a:extLst>
          </p:cNvPr>
          <p:cNvSpPr/>
          <p:nvPr/>
        </p:nvSpPr>
        <p:spPr>
          <a:xfrm>
            <a:off x="416011" y="276137"/>
            <a:ext cx="939525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EXPLORATORY DATA ANALYSIS OF LARGE-SCALE RETAIL TRANSACTION DATA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F6522E-3E45-4C49-B39C-8379612756C9}"/>
              </a:ext>
            </a:extLst>
          </p:cNvPr>
          <p:cNvSpPr/>
          <p:nvPr/>
        </p:nvSpPr>
        <p:spPr>
          <a:xfrm>
            <a:off x="509425" y="1922161"/>
            <a:ext cx="51472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NextHikes IT Solutions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2EFF73-D15A-40C5-AE62-89405A56EE51}"/>
              </a:ext>
            </a:extLst>
          </p:cNvPr>
          <p:cNvSpPr/>
          <p:nvPr/>
        </p:nvSpPr>
        <p:spPr>
          <a:xfrm>
            <a:off x="641275" y="5950464"/>
            <a:ext cx="35686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Presented By Sandeep Singh</a:t>
            </a:r>
          </a:p>
        </p:txBody>
      </p:sp>
    </p:spTree>
    <p:extLst>
      <p:ext uri="{BB962C8B-B14F-4D97-AF65-F5344CB8AC3E}">
        <p14:creationId xmlns:p14="http://schemas.microsoft.com/office/powerpoint/2010/main" val="3555310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8D3245-2914-4B5E-A2E8-B26E227C9EEE}"/>
              </a:ext>
            </a:extLst>
          </p:cNvPr>
          <p:cNvSpPr/>
          <p:nvPr/>
        </p:nvSpPr>
        <p:spPr>
          <a:xfrm>
            <a:off x="131805" y="260687"/>
            <a:ext cx="6182498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400" b="1" dirty="0">
                <a:solidFill>
                  <a:schemeClr val="bg1"/>
                </a:solidFill>
              </a:rPr>
              <a:t>Objective 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Perform Exploratory Data Analysis (EDA)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Understand numerical and categorical variables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Identify patterns, relationships and distributions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Detect and interpret outliers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Analyze correlation, skewness and kurtosis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Generate meaningful business insights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061368-DB35-4B44-BE18-A0AB3C217133}"/>
              </a:ext>
            </a:extLst>
          </p:cNvPr>
          <p:cNvSpPr/>
          <p:nvPr/>
        </p:nvSpPr>
        <p:spPr>
          <a:xfrm>
            <a:off x="218303" y="3130030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AutoNum type="arabicPlain" startAt="2"/>
            </a:pPr>
            <a:r>
              <a:rPr lang="en-US" sz="2400" b="1" dirty="0">
                <a:solidFill>
                  <a:schemeClr val="bg1"/>
                </a:solidFill>
              </a:rPr>
              <a:t>Dataset</a:t>
            </a:r>
          </a:p>
          <a:p>
            <a:pPr marL="457200" indent="-457200">
              <a:buAutoNum type="arabicPlain" startAt="2"/>
            </a:pPr>
            <a:endParaRPr lang="en-US" sz="2400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Retail Transaction Dataset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100,000 Transactions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18 Columns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Numerical + Categorical + Date Variables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Retail customer, product, payment, delivery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  and return information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B4A62C-06EA-46A9-A7E9-40A86A219AD6}"/>
              </a:ext>
            </a:extLst>
          </p:cNvPr>
          <p:cNvSpPr/>
          <p:nvPr/>
        </p:nvSpPr>
        <p:spPr>
          <a:xfrm>
            <a:off x="7409935" y="260687"/>
            <a:ext cx="6096000" cy="2616101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AutoNum type="arabicPlain" startAt="3"/>
            </a:pPr>
            <a:r>
              <a:rPr lang="en-US" sz="2400" b="1" dirty="0">
                <a:solidFill>
                  <a:schemeClr val="bg1"/>
                </a:solidFill>
              </a:rPr>
              <a:t>Tools &amp; Technologies</a:t>
            </a:r>
          </a:p>
          <a:p>
            <a:pPr marL="457200" indent="-457200">
              <a:buAutoNum type="arabicPlain" startAt="3"/>
            </a:pPr>
            <a:endParaRPr lang="en-US" sz="2000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Python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Google </a:t>
            </a:r>
            <a:r>
              <a:rPr lang="en-US" sz="2000" b="1" dirty="0" err="1">
                <a:solidFill>
                  <a:schemeClr val="bg1"/>
                </a:solidFill>
              </a:rPr>
              <a:t>Colab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Pandas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NumPy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Matplotlib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Seaborn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2FD7C-9AD8-46AD-BDEC-D7E77756CDCE}"/>
              </a:ext>
            </a:extLst>
          </p:cNvPr>
          <p:cNvSpPr/>
          <p:nvPr/>
        </p:nvSpPr>
        <p:spPr>
          <a:xfrm>
            <a:off x="6606746" y="3130030"/>
            <a:ext cx="6096000" cy="36009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400" b="1" dirty="0">
                <a:solidFill>
                  <a:schemeClr val="bg1"/>
                </a:solidFill>
              </a:rPr>
              <a:t>4</a:t>
            </a:r>
            <a:r>
              <a:rPr lang="en-US" sz="2000" b="1" dirty="0">
                <a:solidFill>
                  <a:schemeClr val="bg1"/>
                </a:solidFill>
              </a:rPr>
              <a:t>   </a:t>
            </a:r>
            <a:r>
              <a:rPr lang="en-US" sz="2400" b="1" dirty="0">
                <a:solidFill>
                  <a:schemeClr val="bg1"/>
                </a:solidFill>
              </a:rPr>
              <a:t>My Contribution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Data cleaning &amp; preparation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Feature engineering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Univariate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Bivariate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Multivariate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Outlier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Correlation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Statistical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Business insights &amp;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411357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6CD92C-9340-4105-9CD7-7A0B5D8B8FB3}"/>
              </a:ext>
            </a:extLst>
          </p:cNvPr>
          <p:cNvSpPr/>
          <p:nvPr/>
        </p:nvSpPr>
        <p:spPr>
          <a:xfrm>
            <a:off x="3463207" y="266356"/>
            <a:ext cx="451316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b="1" u="sng" dirty="0">
                <a:solidFill>
                  <a:schemeClr val="bg1"/>
                </a:solidFill>
              </a:rPr>
              <a:t>Dataset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569A7C-825D-4904-9117-CC837C252E62}"/>
              </a:ext>
            </a:extLst>
          </p:cNvPr>
          <p:cNvSpPr/>
          <p:nvPr/>
        </p:nvSpPr>
        <p:spPr>
          <a:xfrm>
            <a:off x="805247" y="1035797"/>
            <a:ext cx="25880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Dataset 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5C344-2AA6-40D8-BB12-24AB3489F758}"/>
              </a:ext>
            </a:extLst>
          </p:cNvPr>
          <p:cNvSpPr/>
          <p:nvPr/>
        </p:nvSpPr>
        <p:spPr>
          <a:xfrm>
            <a:off x="869779" y="1704204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chemeClr val="tx2">
                    <a:lumMod val="50000"/>
                  </a:schemeClr>
                </a:solidFill>
              </a:rPr>
              <a:t>Dataset Size</a:t>
            </a:r>
            <a:endParaRPr lang="en-US" sz="2000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100,000 Rows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 18 Columns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 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895CB4-4372-4CDB-A002-4753B9107C57}"/>
              </a:ext>
            </a:extLst>
          </p:cNvPr>
          <p:cNvSpPr/>
          <p:nvPr/>
        </p:nvSpPr>
        <p:spPr>
          <a:xfrm>
            <a:off x="4221893" y="170420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Data Types</a:t>
            </a:r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Numerical Variables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Categorical Variables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Date Variable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683D60-BAF4-48D3-8BE7-B75EB9738173}"/>
              </a:ext>
            </a:extLst>
          </p:cNvPr>
          <p:cNvSpPr/>
          <p:nvPr/>
        </p:nvSpPr>
        <p:spPr>
          <a:xfrm>
            <a:off x="8704478" y="1611871"/>
            <a:ext cx="322683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Main Data Areas</a:t>
            </a:r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Customer Information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Product Information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Payment Details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Shipping &amp; Delivery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Return Status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Transaction Value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125A9C-496E-4609-AAFA-8903199BE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19" y="3756454"/>
            <a:ext cx="11622389" cy="300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14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39AB7C-306F-4AB3-A949-415C6F074AE7}"/>
              </a:ext>
            </a:extLst>
          </p:cNvPr>
          <p:cNvSpPr/>
          <p:nvPr/>
        </p:nvSpPr>
        <p:spPr>
          <a:xfrm>
            <a:off x="2626119" y="142788"/>
            <a:ext cx="71127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>
                <a:solidFill>
                  <a:schemeClr val="bg1"/>
                </a:solidFill>
              </a:rPr>
              <a:t>Data Preparation &amp; Target Variable      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1284ED-B57F-44E1-A4E9-B455AA1E3E49}"/>
              </a:ext>
            </a:extLst>
          </p:cNvPr>
          <p:cNvSpPr/>
          <p:nvPr/>
        </p:nvSpPr>
        <p:spPr>
          <a:xfrm>
            <a:off x="1119159" y="958334"/>
            <a:ext cx="24737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Data Preparation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C7F71C1-E5CC-453C-B849-AB3AAB58E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90174"/>
            <a:ext cx="743504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Converted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order_date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into datetime format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Extracted Year, Month and Day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Created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age_group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Created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delivery_category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Created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discount_category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Checked missing values and duplicates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Prepared numerical and categorical variables for analysis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038A45-2617-422E-8554-E36C9D122F5A}"/>
              </a:ext>
            </a:extLst>
          </p:cNvPr>
          <p:cNvSpPr/>
          <p:nvPr/>
        </p:nvSpPr>
        <p:spPr>
          <a:xfrm>
            <a:off x="8398141" y="1050667"/>
            <a:ext cx="21945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Target Variable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D77CD5F-D1DD-447F-9A4B-46541819B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0371" y="2090174"/>
            <a:ext cx="35929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Target Variable: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final_price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7A27E3B7-CEDC-4106-AA28-BFFEA81DE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0892" y="2513119"/>
            <a:ext cx="4151870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final_price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represents the final transaction value after considering product price, quantity and discount.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Then highlight: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Average Final Price: ₹64,165.72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Minimum: ₹357</a:t>
            </a: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Maximum: ₹239,980</a:t>
            </a:r>
          </a:p>
        </p:txBody>
      </p:sp>
    </p:spTree>
    <p:extLst>
      <p:ext uri="{BB962C8B-B14F-4D97-AF65-F5344CB8AC3E}">
        <p14:creationId xmlns:p14="http://schemas.microsoft.com/office/powerpoint/2010/main" val="2577962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6993D0-8961-4BEF-A836-B6D868766E7B}"/>
              </a:ext>
            </a:extLst>
          </p:cNvPr>
          <p:cNvSpPr/>
          <p:nvPr/>
        </p:nvSpPr>
        <p:spPr>
          <a:xfrm>
            <a:off x="3235975" y="0"/>
            <a:ext cx="54934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</a:rPr>
              <a:t>Univariate Numerical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7C25FC-B4DB-4BFD-913D-F45B508A3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84775"/>
            <a:ext cx="6289186" cy="30063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764EC8-1027-4771-B057-557E0E51D0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185" y="584775"/>
            <a:ext cx="5902815" cy="30290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D6CF5F-DA5C-403F-9B2D-AAA9AA3FC5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579742"/>
            <a:ext cx="6289186" cy="28611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9A1ECA4-A915-43EE-9232-ECBA70309E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13805"/>
            <a:ext cx="6096000" cy="283842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281BADB-7DC7-4159-AD83-FBC8760BD87B}"/>
              </a:ext>
            </a:extLst>
          </p:cNvPr>
          <p:cNvSpPr/>
          <p:nvPr/>
        </p:nvSpPr>
        <p:spPr>
          <a:xfrm>
            <a:off x="-11955" y="6440879"/>
            <a:ext cx="120968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Age, product price and delivery days  show relatively balanced distributions. Final price is right-skewed, indicating some high-value transactions. </a:t>
            </a:r>
          </a:p>
        </p:txBody>
      </p:sp>
    </p:spTree>
    <p:extLst>
      <p:ext uri="{BB962C8B-B14F-4D97-AF65-F5344CB8AC3E}">
        <p14:creationId xmlns:p14="http://schemas.microsoft.com/office/powerpoint/2010/main" val="2166878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BA45A3-702C-4426-9B7A-0A60AE7B9980}"/>
              </a:ext>
            </a:extLst>
          </p:cNvPr>
          <p:cNvSpPr/>
          <p:nvPr/>
        </p:nvSpPr>
        <p:spPr>
          <a:xfrm>
            <a:off x="3419390" y="-20477"/>
            <a:ext cx="566655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</a:rPr>
              <a:t>Univariate Categorical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1B02AE-D490-4873-8C17-E40F862C2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64299"/>
            <a:ext cx="6203092" cy="31921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EF66C8-6E0F-4402-89F7-D4D95E81AE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093" y="564298"/>
            <a:ext cx="5988906" cy="31921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07B560-AB16-4B96-A5A7-55B5921BCA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756453"/>
            <a:ext cx="6203092" cy="30856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D08FCB-10FE-4F3F-B46E-04DF65FB9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092" y="3665845"/>
            <a:ext cx="6042453" cy="317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815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F364BC-B59E-4080-856F-0244A9B29DD0}"/>
              </a:ext>
            </a:extLst>
          </p:cNvPr>
          <p:cNvSpPr/>
          <p:nvPr/>
        </p:nvSpPr>
        <p:spPr>
          <a:xfrm>
            <a:off x="4253360" y="0"/>
            <a:ext cx="41574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Correlation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ABD348-7641-47DD-9FEE-ACF3819F8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46" y="646331"/>
            <a:ext cx="10713308" cy="516512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0FE777-219A-47FB-9C7E-0A18A48F7269}"/>
              </a:ext>
            </a:extLst>
          </p:cNvPr>
          <p:cNvSpPr/>
          <p:nvPr/>
        </p:nvSpPr>
        <p:spPr>
          <a:xfrm>
            <a:off x="424248" y="5750004"/>
            <a:ext cx="1134350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Final Price has a strong positive correlation with Product Price and a moderate positive correlation with Quantity. Discount Percentage has a weak negative correlation with Final Price, while Age and Delivery Days show almost no linear relationship with Final Price.</a:t>
            </a:r>
          </a:p>
        </p:txBody>
      </p:sp>
    </p:spTree>
    <p:extLst>
      <p:ext uri="{BB962C8B-B14F-4D97-AF65-F5344CB8AC3E}">
        <p14:creationId xmlns:p14="http://schemas.microsoft.com/office/powerpoint/2010/main" val="889799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2D89BD-499C-4446-8FC7-2C07FBBC4A79}"/>
              </a:ext>
            </a:extLst>
          </p:cNvPr>
          <p:cNvSpPr/>
          <p:nvPr/>
        </p:nvSpPr>
        <p:spPr>
          <a:xfrm>
            <a:off x="3225115" y="1464961"/>
            <a:ext cx="553582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THANK  YOU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97CE79-BF7D-43C4-BB49-B4E8B7AB47DC}"/>
              </a:ext>
            </a:extLst>
          </p:cNvPr>
          <p:cNvSpPr/>
          <p:nvPr/>
        </p:nvSpPr>
        <p:spPr>
          <a:xfrm>
            <a:off x="8942173" y="5923176"/>
            <a:ext cx="25132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Presented By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Sandeep Singh</a:t>
            </a:r>
          </a:p>
        </p:txBody>
      </p:sp>
    </p:spTree>
    <p:extLst>
      <p:ext uri="{BB962C8B-B14F-4D97-AF65-F5344CB8AC3E}">
        <p14:creationId xmlns:p14="http://schemas.microsoft.com/office/powerpoint/2010/main" val="348445496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148</TotalTime>
  <Words>357</Words>
  <Application>Microsoft Office PowerPoint</Application>
  <PresentationFormat>Widescreen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 Unicode MS</vt:lpstr>
      <vt:lpstr>Arial</vt:lpstr>
      <vt:lpstr>Corbel</vt:lpstr>
      <vt:lpstr>Wingdings 2</vt:lpstr>
      <vt:lpstr>Frame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13</cp:revision>
  <dcterms:created xsi:type="dcterms:W3CDTF">2026-09-25T15:57:23Z</dcterms:created>
  <dcterms:modified xsi:type="dcterms:W3CDTF">2026-09-25T18:26:01Z</dcterms:modified>
</cp:coreProperties>
</file>